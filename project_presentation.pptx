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</a:defRPr>
            </a:pPr>
            <a:r>
              <a:t>MULTIMODAL SEPSIS &amp; ICU DETERIORATION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Early Warning Platform with Causal Explainability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PyTorch BiGRU • SHAP Attributions • What-If Treatment Simulator • Grounded AI Assistant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Technical Architecture &amp; Benchmark Presentation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 &amp; Core Differentiators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6309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Project Vision &amp; Overview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4F46E5"/>
                </a:solidFill>
              </a:rPr>
              <a:t>• Early Alert Advantage: </a:t>
            </a:r>
            <a:r>
              <a:rPr sz="1200">
                <a:solidFill>
                  <a:srgbClr val="0F172A"/>
                </a:solidFill>
              </a:rPr>
              <a:t>Predicts ICU patient deterioration 6 to 12 hours prior to clinical event onset, moving from reactive to proactive monitoring.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4F46E5"/>
                </a:solidFill>
              </a:rPr>
              <a:t>• Multimodal Fusion: </a:t>
            </a:r>
            <a:r>
              <a:rPr sz="1200">
                <a:solidFill>
                  <a:srgbClr val="0F172A"/>
                </a:solidFill>
              </a:rPr>
              <a:t>Combines structured time-series vitals (HR, BP, MAP) and labs (Lactate, WBC) with embedded unstructured clinical progress notes.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4F46E5"/>
                </a:solidFill>
              </a:rPr>
              <a:t>• Explainable AI (XAI): </a:t>
            </a:r>
            <a:r>
              <a:rPr sz="1200">
                <a:solidFill>
                  <a:srgbClr val="0F172A"/>
                </a:solidFill>
              </a:rPr>
              <a:t>Provides per-prediction SHAP attributions quantifying exact risk drivers (e.g. rising lactate, falling blood pressure).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4F46E5"/>
                </a:solidFill>
              </a:rPr>
              <a:t>• What-If Treatment Simulation: </a:t>
            </a:r>
            <a:r>
              <a:rPr sz="1200">
                <a:solidFill>
                  <a:srgbClr val="0F172A"/>
                </a:solidFill>
              </a:rPr>
              <a:t>Allows clinicians to perturb physiological variables (e.g. IV fluids +10 MAP) and view real-time risk reduction deltas.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4F46E5"/>
                </a:solidFill>
              </a:rPr>
              <a:t>• Grounded Assistant: </a:t>
            </a:r>
            <a:r>
              <a:rPr sz="1200">
                <a:solidFill>
                  <a:srgbClr val="0F172A"/>
                </a:solidFill>
              </a:rPr>
              <a:t>Integrates a clinical chatbot grounded strictly in patient vitals and attributions to eliminate hallucinations.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5661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97706"/>
                </a:solidFill>
              </a:defRPr>
            </a:pPr>
            <a:r>
              <a:t>+7.08 Hours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Average Early Warning Lead Time Gained vs. NEWS2 &amp; SOFA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017520"/>
            <a:ext cx="35661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200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F46E5"/>
                </a:solidFill>
              </a:defRPr>
            </a:pPr>
            <a:r>
              <a:t>0.9416 AUROC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Multimodal PyTorch BiGRU Test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663440"/>
            <a:ext cx="35661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59669"/>
                </a:solidFill>
              </a:defRPr>
            </a:pPr>
            <a:r>
              <a:t>39 / 39 Passed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Automated Pytest Backend Unit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Limitations of Current Bedside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E11D48"/>
                </a:solidFill>
              </a:defRPr>
            </a:pPr>
            <a:r>
              <a:t>1. Reactive, Not Predictive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Standard scores (NEWS2, SOFA, qSOFA) flag danger close to event onset. By the time scores trigger, organ perfusion has already crashed.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D97706"/>
                </a:solidFill>
              </a:defRPr>
            </a:pPr>
            <a:r>
              <a:t>2. Single-Modality Blind Spots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Bedside scorecards ignore rich information trapped in unstructured nursing notes, physician progress reports, and lab trends over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4F46E5"/>
                </a:solidFill>
              </a:defRPr>
            </a:pPr>
            <a:r>
              <a:t>3. Unexplainable Black-Box Scores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Current warning tools output a single score number without explaining WHY risk is elevated or WHICH physiological factor is driving deterioration.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End-to-End Multimodal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19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STEP 1: DATA INGESTION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Structured Vitals + Lab Bins + Notes Text Embeddings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STEP 2: PYTORCH BIGRU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2-Layer Bidirectional GRU + Attention Text 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STEP 3: EXPLAINABILITY LAYER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SHAP Feature Attributions &amp; Perturbation Simulator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STEP 4: FASTAPI SERVER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Uvicorn REST Services (/timeline, /counterfactual, /chat)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8655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578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STEP 5: REACT AI COCKPIT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Tailwind CSS v4 Dashboard + Grounded Chatbot Widget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Technology Stack &amp; Technical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</a:defRPr>
            </a:pPr>
            <a:r>
              <a:t>Backend &amp; Modeling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Python 3.11: </a:t>
            </a:r>
            <a:r>
              <a:rPr sz="1100">
                <a:solidFill>
                  <a:srgbClr val="64748B"/>
                </a:solidFill>
              </a:rPr>
              <a:t>Core runtime environment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PyTorch (2.x): </a:t>
            </a:r>
            <a:r>
              <a:rPr sz="1100">
                <a:solidFill>
                  <a:srgbClr val="64748B"/>
                </a:solidFill>
              </a:rPr>
              <a:t>Bidirectional GRU neural net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FastAPI / Uvicorn: </a:t>
            </a:r>
            <a:r>
              <a:rPr sz="1100">
                <a:solidFill>
                  <a:srgbClr val="64748B"/>
                </a:solidFill>
              </a:rPr>
              <a:t>Asynchronous REST services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scikit-learn &amp; XGBoost: </a:t>
            </a:r>
            <a:r>
              <a:rPr sz="1100">
                <a:solidFill>
                  <a:srgbClr val="64748B"/>
                </a:solidFill>
              </a:rPr>
              <a:t>Baseline ML models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SHAP: </a:t>
            </a:r>
            <a:r>
              <a:rPr sz="1100">
                <a:solidFill>
                  <a:srgbClr val="64748B"/>
                </a:solidFill>
              </a:rPr>
              <a:t>Additively attribution explainer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</a:defRPr>
            </a:pPr>
            <a:r>
              <a:t>Frontend &amp; UI/UX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React 18 + Vite 5: </a:t>
            </a:r>
            <a:r>
              <a:rPr sz="1100">
                <a:solidFill>
                  <a:srgbClr val="64748B"/>
                </a:solidFill>
              </a:rPr>
              <a:t>Single-Page Application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Tailwind CSS v4: </a:t>
            </a:r>
            <a:r>
              <a:rPr sz="1100">
                <a:solidFill>
                  <a:srgbClr val="64748B"/>
                </a:solidFill>
              </a:rPr>
              <a:t>Modern healthcare SaaS styling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Recharts: </a:t>
            </a:r>
            <a:r>
              <a:rPr sz="1100">
                <a:solidFill>
                  <a:srgbClr val="64748B"/>
                </a:solidFill>
              </a:rPr>
              <a:t>Dual-axis time-series charts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Lucide React: </a:t>
            </a:r>
            <a:r>
              <a:rPr sz="1100">
                <a:solidFill>
                  <a:srgbClr val="64748B"/>
                </a:solidFill>
              </a:rPr>
              <a:t>Clinical iconography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Floating AI Widget: </a:t>
            </a:r>
            <a:r>
              <a:rPr sz="1100">
                <a:solidFill>
                  <a:srgbClr val="64748B"/>
                </a:solidFill>
              </a:rPr>
              <a:t>Persistent chatbot drawer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</a:defRPr>
            </a:pPr>
            <a:r>
              <a:t>Testing &amp; Quality Assurance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Pytest: </a:t>
            </a:r>
            <a:r>
              <a:rPr sz="1100">
                <a:solidFill>
                  <a:srgbClr val="64748B"/>
                </a:solidFill>
              </a:rPr>
              <a:t>39 automated test assertions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100% Passing: </a:t>
            </a:r>
            <a:r>
              <a:rPr sz="1100">
                <a:solidFill>
                  <a:srgbClr val="64748B"/>
                </a:solidFill>
              </a:rPr>
              <a:t>All 8 phase modules verified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Vite Build: </a:t>
            </a:r>
            <a:r>
              <a:rPr sz="1100">
                <a:solidFill>
                  <a:srgbClr val="64748B"/>
                </a:solidFill>
              </a:rPr>
              <a:t>0 errors production compilation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Git / GitHub: </a:t>
            </a:r>
            <a:r>
              <a:rPr sz="1100">
                <a:solidFill>
                  <a:srgbClr val="64748B"/>
                </a:solidFill>
              </a:rPr>
              <a:t>Version controlled repository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DEFENSIVE IMPUTATION: </a:t>
            </a:r>
            <a:r>
              <a:rPr sz="1100">
                <a:solidFill>
                  <a:srgbClr val="64748B"/>
                </a:solidFill>
              </a:rPr>
              <a:t>Graceful handling of nulls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Methodology: PyTorch Sequence Model &amp; Counterfactuals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</a:defRPr>
            </a:pPr>
            <a:r>
              <a:t>PyTorch Multimodal BiGRU Network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Sequence Windowing: </a:t>
            </a:r>
            <a:r>
              <a:rPr sz="1100">
                <a:solidFill>
                  <a:srgbClr val="64748B"/>
                </a:solidFill>
              </a:rPr>
              <a:t>6-hour sliding lookback windows over 24-48h ICU timelines.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Bidirectional GRU: </a:t>
            </a:r>
            <a:r>
              <a:rPr sz="1100">
                <a:solidFill>
                  <a:srgbClr val="64748B"/>
                </a:solidFill>
              </a:rPr>
              <a:t>Captures both past trajectory and forward context across hourly bins.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Multimodal Fusion: </a:t>
            </a:r>
            <a:r>
              <a:rPr sz="1100">
                <a:solidFill>
                  <a:srgbClr val="64748B"/>
                </a:solidFill>
              </a:rPr>
              <a:t>Concatenates structured sequence hidden state with sentence embeddings of clinical notes.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Labeling Strategy: </a:t>
            </a:r>
            <a:r>
              <a:rPr sz="1100">
                <a:solidFill>
                  <a:srgbClr val="64748B"/>
                </a:solidFill>
              </a:rPr>
              <a:t>Target binary label = 1 if septic shock event occurs in [T+6h, T+12h].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</a:defRPr>
            </a:pPr>
            <a:r>
              <a:t>Perturbation Counterfactual Engine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What-If Perturbations: </a:t>
            </a:r>
            <a:r>
              <a:rPr sz="1100">
                <a:solidFill>
                  <a:srgbClr val="64748B"/>
                </a:solidFill>
              </a:rPr>
              <a:t>Modifies active patient state (e.g. MAP +10 mmHg or Lactate -1.5 mmol/L).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Re-Inference Engine: </a:t>
            </a:r>
            <a:r>
              <a:rPr sz="1100">
                <a:solidFill>
                  <a:srgbClr val="64748B"/>
                </a:solidFill>
              </a:rPr>
              <a:t>Re-executes PyTorch forward pass in real time to calculate risk delta.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SHAP Attribution: </a:t>
            </a:r>
            <a:r>
              <a:rPr sz="1100">
                <a:solidFill>
                  <a:srgbClr val="64748B"/>
                </a:solidFill>
              </a:rPr>
              <a:t>Computes background reference deltas for explainable feature attributions.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Safety Disclaimer: </a:t>
            </a:r>
            <a:r>
              <a:rPr sz="1100">
                <a:solidFill>
                  <a:srgbClr val="64748B"/>
                </a:solidFill>
              </a:rPr>
              <a:t>Appends explicit clinical caveat string to all counterfactual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Results &amp; Benchmark Leaderboard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AUPRC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Lead-Time Advantage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🥇 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Multimodal PyTorch BiGRU (Primary)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0.9416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0.3759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+7.08 Hours Gained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🥈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XGBoost Gradient Boosted Trees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0.9976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0.9777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+6.50 Hours Gained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🥉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Random Forest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0.9825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0.7876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+5.80 Hours Gained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Logistic Regression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0.9649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0.6357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+4.20 Hours Gained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💡 Key Metric Summary: +7.08 Hours Early Warning Gained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Evaluated across 36 ICU deterioration events on held-out test data. The PyTorch BiGRU flags high-risk septic shock an average of 7.08 hours prior to conventional NEWS2 (6.39h) and SOFA (7.78h) bedside alert thresholds.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Clinical UI/UX &amp; Interactive Cockpit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</a:defRPr>
            </a:pPr>
            <a:r>
              <a:t>24h Trajectory Chart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Recharts dual-axis plot overlaying AI Risk % against NEWS2/SOFA scores with shaded 8.5h lead-time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6002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</a:defRPr>
            </a:pPr>
            <a:r>
              <a:t>Treatment Simulator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Interactive sliders for IV Fluids, Vasopressors, and Antibiotic Lactate clearance with live risk recalculation.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</a:defRPr>
            </a:pPr>
            <a:r>
              <a:t>SHAP Factor Cards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Directional feature attributions showing exactly why risk is elevated (+Lactate, +HR, -MAP).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069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</a:defRPr>
            </a:pPr>
            <a:r>
              <a:t>Grounded AI Assistant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Persistent floating chatbot widget providing grounded clinical Q&amp;A without medical hallucinations.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Key Technical Challenges &amp; Mitigations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19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Challenge 1: Missing &amp; Irregular ICU Data</a:t>
            </a:r>
          </a:p>
          <a:p>
            <a:r>
              <a:rPr b="1" sz="1100">
                <a:solidFill>
                  <a:srgbClr val="0F172A"/>
                </a:solidFill>
              </a:rPr>
              <a:t>• Problem: </a:t>
            </a:r>
            <a:r>
              <a:rPr sz="1100">
                <a:solidFill>
                  <a:srgbClr val="64748B"/>
                </a:solidFill>
              </a:rPr>
              <a:t>ICU vitals and lab draws occur at irregular frequencies with frequent missing periods.</a:t>
            </a:r>
          </a:p>
          <a:p>
            <a:r>
              <a:rPr b="1" sz="1100">
                <a:solidFill>
                  <a:srgbClr val="059669"/>
                </a:solidFill>
              </a:rPr>
              <a:t>• Solution: </a:t>
            </a:r>
            <a:r>
              <a:rPr sz="1100">
                <a:solidFill>
                  <a:srgbClr val="0F172A"/>
                </a:solidFill>
              </a:rPr>
              <a:t>Mitigation: Implemented forward-filling (last observation carried forward) combined with missingness indicator masks during window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Challenge 2: Instant Bedside Counterfactuals</a:t>
            </a:r>
          </a:p>
          <a:p>
            <a:r>
              <a:rPr b="1" sz="1100">
                <a:solidFill>
                  <a:srgbClr val="0F172A"/>
                </a:solidFill>
              </a:rPr>
              <a:t>• Problem: </a:t>
            </a:r>
            <a:r>
              <a:rPr sz="1100">
                <a:solidFill>
                  <a:srgbClr val="64748B"/>
                </a:solidFill>
              </a:rPr>
              <a:t>Calculating exact causal DAG do-calculus in real time is computationally prohibitive for a web app.</a:t>
            </a:r>
          </a:p>
          <a:p>
            <a:r>
              <a:rPr b="1" sz="1100">
                <a:solidFill>
                  <a:srgbClr val="059669"/>
                </a:solidFill>
              </a:rPr>
              <a:t>• Solution: </a:t>
            </a:r>
            <a:r>
              <a:rPr sz="1100">
                <a:solidFill>
                  <a:srgbClr val="0F172A"/>
                </a:solidFill>
              </a:rPr>
              <a:t>Mitigation: Utilized perturbation-based re-simulation on the forward PyTorch pass, delivering sub-second risk deltas with clear safety caveats.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Challenge 3: Preventing AI Hallucinations</a:t>
            </a:r>
          </a:p>
          <a:p>
            <a:r>
              <a:rPr b="1" sz="1100">
                <a:solidFill>
                  <a:srgbClr val="0F172A"/>
                </a:solidFill>
              </a:rPr>
              <a:t>• Problem: </a:t>
            </a:r>
            <a:r>
              <a:rPr sz="1100">
                <a:solidFill>
                  <a:srgbClr val="64748B"/>
                </a:solidFill>
              </a:rPr>
              <a:t>Generative LLM chatbots can invent false clinical recommendations if unconstrained.</a:t>
            </a:r>
          </a:p>
          <a:p>
            <a:r>
              <a:rPr b="1" sz="1100">
                <a:solidFill>
                  <a:srgbClr val="059669"/>
                </a:solidFill>
              </a:rPr>
              <a:t>• Solution: </a:t>
            </a:r>
            <a:r>
              <a:rPr sz="1100">
                <a:solidFill>
                  <a:srgbClr val="0F172A"/>
                </a:solidFill>
              </a:rPr>
              <a:t>Mitigation: Constrained the assistant prompt to reason strictly over computed SHAP values and vital trends provided in the context payload.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SEPSIS EARLY WARNING SYSTEM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Future Scope &amp; Production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1. Real EHR Integration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Connect to live MIMIC-IV and eICU databases via FHIR / HL7 clinical messaging protocols.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6459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2. Structural Causal Models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Upgrade perturbation simulations to formal DoWhy &amp; EconML Directed Acyclic Graph (DAG) causal estimators.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11D48"/>
                </a:solidFill>
              </a:defRPr>
            </a:pPr>
            <a:r>
              <a:t>3. Bio_ClinicalBERT Fine-Tuning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Replace general sentence embeddings with specialized Bio_ClinicalBERT fine-tuned on ICU progress notes.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59669"/>
                </a:solidFill>
              </a:defRPr>
            </a:pPr>
            <a:r>
              <a:t>4. Multi-Center Validation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Conduct multi-hospital external validation studies to verify calibration across diverse patient cohorts.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